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7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ghQl1+9lvf0NnviTRV/sncafF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37"/>
  </p:normalViewPr>
  <p:slideViewPr>
    <p:cSldViewPr snapToGrid="0">
      <p:cViewPr>
        <p:scale>
          <a:sx n="104" d="100"/>
          <a:sy n="104" d="100"/>
        </p:scale>
        <p:origin x="-320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2212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966424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7688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908349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910760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7427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5948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6814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30241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106903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994862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0937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215266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23567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302982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278801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733582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7418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0800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889" r:id="rId12"/>
    <p:sldLayoutId id="2147483890" r:id="rId13"/>
    <p:sldLayoutId id="2147483891" r:id="rId14"/>
    <p:sldLayoutId id="2147483892" r:id="rId15"/>
    <p:sldLayoutId id="2147483893" r:id="rId16"/>
    <p:sldLayoutId id="2147483894" r:id="rId17"/>
    <p:sldLayoutId id="2147483895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618979" y="525982"/>
            <a:ext cx="10972800" cy="187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2286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800"/>
              <a:buFont typeface="Rockwell"/>
              <a:buNone/>
            </a:pPr>
            <a:r>
              <a:rPr lang="bg-BG" sz="5400" dirty="0"/>
              <a:t>Курсова Работа</a:t>
            </a:r>
            <a:br>
              <a:rPr lang="bg-BG" sz="5400" dirty="0"/>
            </a:br>
            <a:r>
              <a:rPr lang="bg-BG" sz="5400" dirty="0"/>
              <a:t>Софтуер</a:t>
            </a:r>
            <a:endParaRPr sz="5400" dirty="0"/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1776651" y="2876045"/>
            <a:ext cx="87469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24687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bg-BG" dirty="0" err="1"/>
              <a:t>Беатис</a:t>
            </a:r>
            <a:r>
              <a:rPr lang="bg-BG" dirty="0"/>
              <a:t> Р. </a:t>
            </a:r>
            <a:r>
              <a:rPr lang="bg-BG" dirty="0" err="1"/>
              <a:t>Илиянова</a:t>
            </a:r>
            <a:br>
              <a:rPr lang="bg-BG" dirty="0"/>
            </a:br>
            <a:r>
              <a:rPr lang="bg-BG" dirty="0"/>
              <a:t>941 222 079</a:t>
            </a:r>
            <a:br>
              <a:rPr lang="bg-BG" dirty="0"/>
            </a:br>
            <a:r>
              <a:rPr lang="bg-BG" dirty="0"/>
              <a:t>ФЕТТ, АЕ, 68 група</a:t>
            </a:r>
            <a:endParaRPr dirty="0"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39353" y="4453317"/>
            <a:ext cx="1339662" cy="1221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/>
              <a:t>Блокова схема на алгоритъма</a:t>
            </a:r>
            <a:endParaRPr/>
          </a:p>
        </p:txBody>
      </p:sp>
      <p:pic>
        <p:nvPicPr>
          <p:cNvPr id="101" name="Google Shape;101;p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3854548" y="1730326"/>
            <a:ext cx="3883651" cy="364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 dirty="0"/>
              <a:t>Движението на огледалото </a:t>
            </a:r>
            <a:endParaRPr dirty="0"/>
          </a:p>
        </p:txBody>
      </p:sp>
      <p:sp>
        <p:nvSpPr>
          <p:cNvPr id="107" name="Google Shape;107;p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240"/>
              <a:buChar char="⦿"/>
            </a:pPr>
            <a:r>
              <a:rPr lang="bg-BG"/>
              <a:t>Движението на огледалото се осъществява чрез отчитане на бутоните на джойстика с функцията </a:t>
            </a:r>
            <a:r>
              <a:rPr lang="bg-BG" b="1"/>
              <a:t>HAL_GPIO_ReadPin</a:t>
            </a:r>
            <a:r>
              <a:rPr lang="bg-BG"/>
              <a:t>, като според избраната посока се управляват входовете и PWM сигналът на драйвера. LED осветлението се включва и изключва посредством PWM сигнал, генериран от таймер </a:t>
            </a:r>
            <a:r>
              <a:rPr lang="bg-BG" b="1"/>
              <a:t>TIM17</a:t>
            </a:r>
            <a:r>
              <a:rPr lang="bg-BG"/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/>
              <a:t>Команда за движение от JOYSTICK</a:t>
            </a:r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240"/>
              <a:buChar char="⦿"/>
            </a:pPr>
            <a:r>
              <a:rPr lang="bg-BG"/>
              <a:t>Движение наляво</a:t>
            </a:r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8246" y="1977873"/>
            <a:ext cx="7075147" cy="2902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/>
              <a:t>Команда за движение от JOYSTICK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2240"/>
              <a:buChar char="⦿"/>
            </a:pPr>
            <a:r>
              <a:rPr lang="bg-BG" dirty="0"/>
              <a:t>Движение надясно</a:t>
            </a:r>
            <a:endParaRPr dirty="0"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0022" y="1837765"/>
            <a:ext cx="6800718" cy="285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880994" y="268664"/>
            <a:ext cx="10396882" cy="115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000"/>
              <a:buFont typeface="Rockwell"/>
              <a:buNone/>
            </a:pPr>
            <a:r>
              <a:rPr lang="bg-BG" sz="4000" dirty="0"/>
              <a:t>Спиране на </a:t>
            </a:r>
            <a:r>
              <a:rPr lang="bg-BG" sz="4000" dirty="0" err="1"/>
              <a:t>моторчетата</a:t>
            </a:r>
            <a:endParaRPr sz="4000" dirty="0"/>
          </a:p>
        </p:txBody>
      </p:sp>
      <p:sp>
        <p:nvSpPr>
          <p:cNvPr id="127" name="Google Shape;127;p6"/>
          <p:cNvSpPr txBox="1">
            <a:spLocks noGrp="1"/>
          </p:cNvSpPr>
          <p:nvPr>
            <p:ph idx="1"/>
          </p:nvPr>
        </p:nvSpPr>
        <p:spPr>
          <a:xfrm>
            <a:off x="801131" y="1468987"/>
            <a:ext cx="5294869" cy="145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sz="2400" dirty="0"/>
              <a:t>Когато няма натиснат бутон:</a:t>
            </a:r>
            <a:endParaRPr sz="1800"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sz="2400" dirty="0"/>
              <a:t>Всички управляващи пинове = 0</a:t>
            </a:r>
            <a:endParaRPr sz="1800"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1820" y="2196110"/>
            <a:ext cx="4994780" cy="302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/>
              <a:t>Принцип на LED</a:t>
            </a:r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dirty="0"/>
              <a:t>LED осветлението се контролира чрез PWM сигнал, генериран от таймер </a:t>
            </a:r>
            <a:r>
              <a:rPr lang="bg-BG" b="1" dirty="0"/>
              <a:t>TIM17</a:t>
            </a:r>
            <a:r>
              <a:rPr lang="bg-BG" dirty="0"/>
              <a:t>, като при натискане на бутона </a:t>
            </a:r>
            <a:r>
              <a:rPr lang="bg-BG" b="1" dirty="0"/>
              <a:t>SELECT</a:t>
            </a:r>
            <a:r>
              <a:rPr lang="bg-BG" dirty="0"/>
              <a:t> в регистъра </a:t>
            </a:r>
            <a:r>
              <a:rPr lang="bg-BG" b="1" dirty="0"/>
              <a:t>CCR1</a:t>
            </a:r>
            <a:r>
              <a:rPr lang="bg-BG" dirty="0"/>
              <a:t> се записва ненулева стойност за включване на светодиода, а при освобождаване на бутона се задава нулева стойност за неговото изключване.</a:t>
            </a:r>
            <a:endParaRPr dirty="0"/>
          </a:p>
        </p:txBody>
      </p:sp>
      <p:pic>
        <p:nvPicPr>
          <p:cNvPr id="135" name="Google Shape;135;p7" descr="C:\Users\Nomad\Desktop\ima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8343" y="3416643"/>
            <a:ext cx="2547081" cy="1694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 dirty="0"/>
              <a:t>LED OFF бутона не е натиснат</a:t>
            </a:r>
            <a:endParaRPr dirty="0"/>
          </a:p>
        </p:txBody>
      </p:sp>
      <p:sp>
        <p:nvSpPr>
          <p:cNvPr id="141" name="Google Shape;141;p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sz="2800"/>
              <a:t>LED се управлява с PWM (TIM17)</a:t>
            </a:r>
            <a:endParaRPr sz="280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sz="2800"/>
              <a:t>CCR1 = 2000 → LED ON</a:t>
            </a:r>
            <a:endParaRPr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sz="2800"/>
              <a:t>CCR1 = 0 → LED OFF</a:t>
            </a:r>
            <a:endParaRPr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/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660" y="1936646"/>
            <a:ext cx="3945005" cy="1492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000"/>
              <a:buFont typeface="Rockwell"/>
              <a:buNone/>
            </a:pPr>
            <a:r>
              <a:rPr lang="bg-BG" sz="4000" dirty="0"/>
              <a:t>Команди за LED ON / OFF бутон SELECT</a:t>
            </a:r>
            <a:endParaRPr sz="4000" dirty="0"/>
          </a:p>
        </p:txBody>
      </p:sp>
      <p:sp>
        <p:nvSpPr>
          <p:cNvPr id="148" name="Google Shape;148;p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sz="2800" dirty="0"/>
              <a:t>LED ON бутон натиснат</a:t>
            </a:r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endParaRPr lang="bg-BG" sz="2800"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endParaRPr sz="2800" dirty="0"/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2579" y="2063396"/>
            <a:ext cx="6632689" cy="219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/>
              <a:t>Променливи и настройки за ADC</a:t>
            </a:r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idx="1"/>
          </p:nvPr>
        </p:nvSpPr>
        <p:spPr>
          <a:xfrm>
            <a:off x="1143000" y="2057400"/>
            <a:ext cx="6074981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540"/>
              <a:buChar char="⦿"/>
            </a:pPr>
            <a:r>
              <a:rPr lang="bg-BG" sz="1800" dirty="0"/>
              <a:t>Измерват се два аналогови входа: ADC_CHANNEL_2 и ADC_CHANNEL_3.</a:t>
            </a:r>
            <a:endParaRPr sz="1800"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540"/>
              <a:buChar char="⦿"/>
            </a:pPr>
            <a:r>
              <a:rPr lang="bg-BG" sz="1800" dirty="0" err="1"/>
              <a:t>adc_raw</a:t>
            </a:r>
            <a:r>
              <a:rPr lang="bg-BG" sz="1800" dirty="0"/>
              <a:t>[2] запазва суровите ADC стойности (0…4095 при 12-bit).</a:t>
            </a:r>
            <a:endParaRPr sz="1800"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540"/>
              <a:buChar char="⦿"/>
            </a:pPr>
            <a:r>
              <a:rPr lang="bg-BG" sz="1800" dirty="0" err="1"/>
              <a:t>adc_mv</a:t>
            </a:r>
            <a:r>
              <a:rPr lang="bg-BG" sz="1800" dirty="0"/>
              <a:t>[2] запазва същото, но превърнато в миливолтове (</a:t>
            </a:r>
            <a:r>
              <a:rPr lang="bg-BG" sz="1800" dirty="0" err="1"/>
              <a:t>mV</a:t>
            </a:r>
            <a:r>
              <a:rPr lang="bg-BG" sz="1800" dirty="0"/>
              <a:t>) при </a:t>
            </a:r>
            <a:r>
              <a:rPr lang="bg-BG" sz="1800" dirty="0" err="1"/>
              <a:t>Vref</a:t>
            </a:r>
            <a:r>
              <a:rPr lang="bg-BG" sz="1800" dirty="0"/>
              <a:t> = 3300 </a:t>
            </a:r>
            <a:r>
              <a:rPr lang="bg-BG" sz="1800" dirty="0" err="1"/>
              <a:t>mV</a:t>
            </a:r>
            <a:r>
              <a:rPr lang="bg-BG" sz="1800" dirty="0"/>
              <a:t>.</a:t>
            </a:r>
            <a:endParaRPr sz="1800"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540"/>
              <a:buChar char="⦿"/>
            </a:pPr>
            <a:r>
              <a:rPr lang="bg-BG" sz="1800" dirty="0"/>
              <a:t>GLASS_REFRENCE_* са целеви позиции (референтни напрежения) за центриране.</a:t>
            </a:r>
            <a:endParaRPr sz="1600"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540"/>
              <a:buChar char="⦿"/>
            </a:pPr>
            <a:r>
              <a:rPr lang="bg-BG" sz="1800" dirty="0" err="1"/>
              <a:t>ADC_POS_Hys</a:t>
            </a:r>
            <a:r>
              <a:rPr lang="bg-BG" sz="1800" dirty="0"/>
              <a:t> е </a:t>
            </a:r>
            <a:r>
              <a:rPr lang="bg-BG" sz="1800" dirty="0" err="1"/>
              <a:t>хистерезис</a:t>
            </a:r>
            <a:r>
              <a:rPr lang="bg-BG" sz="1800" dirty="0"/>
              <a:t> (±20 </a:t>
            </a:r>
            <a:r>
              <a:rPr lang="bg-BG" sz="1800" dirty="0" err="1"/>
              <a:t>mV</a:t>
            </a:r>
            <a:r>
              <a:rPr lang="bg-BG" sz="1800" dirty="0"/>
              <a:t>), за да не “трепти” около целта.</a:t>
            </a:r>
            <a:endParaRPr sz="1600" dirty="0"/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8108" y="1804181"/>
            <a:ext cx="3540286" cy="3988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/>
              <a:t>Стартиране на ADC</a:t>
            </a:r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idx="1"/>
          </p:nvPr>
        </p:nvSpPr>
        <p:spPr>
          <a:xfrm>
            <a:off x="3484060" y="5020920"/>
            <a:ext cx="6768549" cy="95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960"/>
              <a:buChar char="⦿"/>
            </a:pPr>
            <a:r>
              <a:rPr lang="bg-BG" dirty="0"/>
              <a:t>Задейства</a:t>
            </a:r>
            <a:r>
              <a:rPr lang="bg-BG" sz="2800" dirty="0"/>
              <a:t> ADC конверсия на hadc1.</a:t>
            </a:r>
            <a:endParaRPr sz="2800" dirty="0"/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5494" y="1790363"/>
            <a:ext cx="3389080" cy="3203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title"/>
          </p:nvPr>
        </p:nvSpPr>
        <p:spPr>
          <a:xfrm>
            <a:off x="618977" y="67433"/>
            <a:ext cx="10874327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3200"/>
              <a:buFont typeface="Rockwell"/>
              <a:buNone/>
            </a:pPr>
            <a:r>
              <a:rPr lang="bg-BG" sz="3200" dirty="0"/>
              <a:t>Прочитане на резултатите от два канала.</a:t>
            </a:r>
            <a:br>
              <a:rPr lang="bg-BG" sz="3200" dirty="0"/>
            </a:br>
            <a:r>
              <a:rPr lang="bg-BG" sz="3200" dirty="0"/>
              <a:t>Преобразуване в </a:t>
            </a:r>
            <a:r>
              <a:rPr lang="bg-BG" sz="3200" dirty="0" err="1"/>
              <a:t>mV</a:t>
            </a:r>
            <a:endParaRPr sz="3200" dirty="0"/>
          </a:p>
        </p:txBody>
      </p:sp>
      <p:sp>
        <p:nvSpPr>
          <p:cNvPr id="169" name="Google Shape;169;p12"/>
          <p:cNvSpPr txBox="1">
            <a:spLocks noGrp="1"/>
          </p:cNvSpPr>
          <p:nvPr>
            <p:ph idx="1"/>
          </p:nvPr>
        </p:nvSpPr>
        <p:spPr>
          <a:xfrm>
            <a:off x="618977" y="1702191"/>
            <a:ext cx="6231989" cy="4393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680"/>
              <a:buChar char="⦿"/>
            </a:pPr>
            <a:r>
              <a:rPr lang="bg-BG" dirty="0" err="1"/>
              <a:t>Изчавка</a:t>
            </a:r>
            <a:r>
              <a:rPr lang="bg-BG" dirty="0"/>
              <a:t> ADC да приключи измерването (</a:t>
            </a:r>
            <a:r>
              <a:rPr lang="bg-BG" dirty="0" err="1"/>
              <a:t>PollForConversion</a:t>
            </a:r>
            <a:r>
              <a:rPr lang="bg-BG" dirty="0"/>
              <a:t>)</a:t>
            </a:r>
            <a:endParaRPr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680"/>
              <a:buChar char="⦿"/>
            </a:pPr>
            <a:r>
              <a:rPr lang="bg-BG" dirty="0"/>
              <a:t>Взима суровата стойност (</a:t>
            </a:r>
            <a:r>
              <a:rPr lang="bg-BG" dirty="0" err="1"/>
              <a:t>HAL_ADC_GetValue</a:t>
            </a:r>
            <a:r>
              <a:rPr lang="bg-BG" dirty="0"/>
              <a:t>) → записва в </a:t>
            </a:r>
            <a:r>
              <a:rPr lang="bg-BG" dirty="0" err="1"/>
              <a:t>adc_raw</a:t>
            </a:r>
            <a:r>
              <a:rPr lang="bg-BG" dirty="0"/>
              <a:t>[i]</a:t>
            </a:r>
            <a:endParaRPr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680"/>
              <a:buChar char="⦿"/>
            </a:pPr>
            <a:r>
              <a:rPr lang="bg-BG" dirty="0"/>
              <a:t>Преобразува суровата стойност в </a:t>
            </a:r>
            <a:r>
              <a:rPr lang="bg-BG" dirty="0" err="1"/>
              <a:t>mV</a:t>
            </a:r>
            <a:r>
              <a:rPr lang="bg-BG" dirty="0"/>
              <a:t> → записва в </a:t>
            </a:r>
            <a:r>
              <a:rPr lang="bg-BG" dirty="0" err="1"/>
              <a:t>adc_mv</a:t>
            </a:r>
            <a:r>
              <a:rPr lang="bg-BG" dirty="0"/>
              <a:t>[i]</a:t>
            </a:r>
            <a:endParaRPr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680"/>
              <a:buChar char="⦿"/>
            </a:pPr>
            <a:r>
              <a:rPr lang="bg-BG" dirty="0"/>
              <a:t>Стартира следващата конверсия (</a:t>
            </a:r>
            <a:r>
              <a:rPr lang="bg-BG" dirty="0" err="1"/>
              <a:t>StartADC</a:t>
            </a:r>
            <a:r>
              <a:rPr lang="bg-BG" dirty="0"/>
              <a:t>())</a:t>
            </a:r>
            <a:endParaRPr dirty="0"/>
          </a:p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680"/>
              <a:buChar char="⦿"/>
            </a:pPr>
            <a:r>
              <a:rPr lang="bg-BG" dirty="0"/>
              <a:t>Повтаря това 2 пъти, за да получи </a:t>
            </a:r>
            <a:r>
              <a:rPr lang="bg-BG" dirty="0" err="1"/>
              <a:t>adc_mv</a:t>
            </a:r>
            <a:r>
              <a:rPr lang="bg-BG" dirty="0"/>
              <a:t>[0] и </a:t>
            </a:r>
            <a:r>
              <a:rPr lang="bg-BG" dirty="0" err="1"/>
              <a:t>adc_mv</a:t>
            </a:r>
            <a:r>
              <a:rPr lang="bg-BG" dirty="0"/>
              <a:t>[1]</a:t>
            </a:r>
            <a:endParaRPr dirty="0"/>
          </a:p>
        </p:txBody>
      </p:sp>
      <p:pic>
        <p:nvPicPr>
          <p:cNvPr id="170" name="Google Shape;17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1333" y="1590980"/>
            <a:ext cx="4871690" cy="3869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90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4864" lvl="0" indent="0" algn="ct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ts val="4600"/>
              <a:buFont typeface="Rockwell"/>
              <a:buNone/>
            </a:pPr>
            <a:r>
              <a:rPr lang="bg-BG"/>
              <a:t>#Define стойности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idx="1"/>
          </p:nvPr>
        </p:nvSpPr>
        <p:spPr>
          <a:xfrm>
            <a:off x="722215" y="2015444"/>
            <a:ext cx="6439486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2100" lvl="0" indent="-292100" algn="l" rtl="0">
              <a:spcBef>
                <a:spcPts val="0"/>
              </a:spcBef>
              <a:spcAft>
                <a:spcPts val="0"/>
              </a:spcAft>
              <a:buSzPts val="1680"/>
              <a:buChar char="⦿"/>
            </a:pPr>
            <a:r>
              <a:rPr lang="bg-BG" dirty="0"/>
              <a:t>В Сорс  кода са зададени константи за референтното напрежение на ADC, желаните позиции на огледалото по двете оси, както и стойност на </a:t>
            </a:r>
            <a:r>
              <a:rPr lang="bg-BG" dirty="0" err="1"/>
              <a:t>хистерезис</a:t>
            </a:r>
            <a:r>
              <a:rPr lang="bg-BG" dirty="0"/>
              <a:t>, които гарантират прецизно и устойчиво позициониране. Референтното напрежение на ADC е 3.3 V (3300 </a:t>
            </a:r>
            <a:r>
              <a:rPr lang="bg-BG" dirty="0" err="1"/>
              <a:t>mV</a:t>
            </a:r>
            <a:r>
              <a:rPr lang="bg-BG" dirty="0"/>
              <a:t>), дефинирани са референтни положения на огледалото по осите ляво/дясно и горе/долу, а </a:t>
            </a:r>
            <a:r>
              <a:rPr lang="bg-BG" dirty="0" err="1"/>
              <a:t>хистерезисът</a:t>
            </a:r>
            <a:r>
              <a:rPr lang="bg-BG" dirty="0"/>
              <a:t> (толерансът) е ±20 </a:t>
            </a:r>
            <a:r>
              <a:rPr lang="bg-BG" dirty="0" err="1"/>
              <a:t>mV</a:t>
            </a:r>
            <a:r>
              <a:rPr lang="bg-BG" sz="2400" dirty="0"/>
              <a:t>.</a:t>
            </a:r>
            <a:endParaRPr sz="2400" dirty="0"/>
          </a:p>
        </p:txBody>
      </p:sp>
      <p:pic>
        <p:nvPicPr>
          <p:cNvPr id="177" name="Google Shape;17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1845" y="2308769"/>
            <a:ext cx="4501288" cy="3939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2462002" y="2693773"/>
            <a:ext cx="7110876" cy="1141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54864" lvl="0" indent="0" algn="r" rtl="0">
              <a:spcBef>
                <a:spcPts val="0"/>
              </a:spcBef>
              <a:spcAft>
                <a:spcPts val="0"/>
              </a:spcAft>
              <a:buClr>
                <a:srgbClr val="E7E9C9"/>
              </a:buClr>
              <a:buSzPct val="100000"/>
              <a:buFont typeface="Rockwell"/>
              <a:buNone/>
            </a:pPr>
            <a:r>
              <a:rPr lang="bg-BG" dirty="0"/>
              <a:t>Благодаря за вниманието!</a:t>
            </a:r>
            <a:endParaRPr dirty="0"/>
          </a:p>
        </p:txBody>
      </p:sp>
      <p:sp>
        <p:nvSpPr>
          <p:cNvPr id="183" name="Google Shape;183;p14"/>
          <p:cNvSpPr txBox="1">
            <a:spLocks noGrp="1"/>
          </p:cNvSpPr>
          <p:nvPr>
            <p:ph idx="1"/>
          </p:nvPr>
        </p:nvSpPr>
        <p:spPr>
          <a:xfrm>
            <a:off x="5486400" y="3929449"/>
            <a:ext cx="5596283" cy="144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lang="bg-BG" dirty="0"/>
          </a:p>
          <a:p>
            <a:pPr marL="292100" lvl="0" indent="-14986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69</TotalTime>
  <Words>444</Words>
  <Application>Microsoft Macintosh PowerPoint</Application>
  <PresentationFormat>Widescreen</PresentationFormat>
  <Paragraphs>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Impact</vt:lpstr>
      <vt:lpstr>Rockwell</vt:lpstr>
      <vt:lpstr>Main Event</vt:lpstr>
      <vt:lpstr>Курсова Работа Софтуер</vt:lpstr>
      <vt:lpstr>Блокова схема на алгоритъма</vt:lpstr>
      <vt:lpstr>Движението на огледалото </vt:lpstr>
      <vt:lpstr>Команда за движение от JOYSTICK</vt:lpstr>
      <vt:lpstr>Команда за движение от JOYSTICK</vt:lpstr>
      <vt:lpstr>Спиране на моторчетата</vt:lpstr>
      <vt:lpstr>Принцип на LED</vt:lpstr>
      <vt:lpstr>LED OFF бутона не е натиснат</vt:lpstr>
      <vt:lpstr>Команди за LED ON / OFF бутон SELECT</vt:lpstr>
      <vt:lpstr>Променливи и настройки за ADC</vt:lpstr>
      <vt:lpstr>Стартиране на ADC</vt:lpstr>
      <vt:lpstr>Прочитане на резултатите от два канала. Преобразуване в mV</vt:lpstr>
      <vt:lpstr>#Define стойности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Shtefan Petrov</dc:creator>
  <cp:lastModifiedBy>Beatris Iliyanova</cp:lastModifiedBy>
  <cp:revision>3</cp:revision>
  <dcterms:created xsi:type="dcterms:W3CDTF">2025-12-14T19:14:07Z</dcterms:created>
  <dcterms:modified xsi:type="dcterms:W3CDTF">2025-12-16T16:24:26Z</dcterms:modified>
</cp:coreProperties>
</file>